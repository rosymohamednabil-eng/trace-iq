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73" r:id="rId3"/>
    <p:sldId id="257" r:id="rId4"/>
    <p:sldId id="258" r:id="rId5"/>
    <p:sldId id="274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72" autoAdjust="0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6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466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addresses a fragmented view of industrial methane emissions by unifying Python analysis, SQL governance, and BI reporting into one decision-support pipeline. The goal is to help stakeholders prioritize the facilities and strategies that reduce the most emissions for the least operational difficulty.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dataset spans 21,679 records across 1,500 facilities in 20 countries over 2024-2026, combining operational, geographic, economic, and environmental fields to support a full sustainability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is the foundation of the pipeline: import, clean, explore, visualize, and export, feeding directly into SQL and both BI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map shows the geographic distribution of all monitored facilities. Bubble size encodes emission volume and color encodes subsector, revealing clear regional hotspots.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Confidence level reflects how reliable each emission reading is. Most records fall in the high and medium bands, which supports trusting the aggregate figures used throughout this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line chart tracks total monthly emissions. The dataset is largely stable except for a sharp anomaly around January 2026 that warrants root-cause investigation.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Emissions split fairly evenly between transport and production subsectors, with transport slightly ahead. All records are point-source emissions, so the subsector split is the more actionable lens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Russia, Canada, Qatar, Algeria, and Saudi Arabia top the country ranking. These major hydrocarbon exporters offer the highest-leverage opportunities for emissions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Super-emitters make up just 3.1% of facilities. This concentration is the clearest opportunity in the dataset for high-impact, low-effort intervention.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Gazprom and Shell top the corporate emissions ranking, with a mix of state-owned and multinational operators rounding out the top ten — a concentrated group for targeted engagement.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closes the Python section by tying together the six visualizations into one coherent narrative before moving to the SQL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SQL layer starts with database and table setup in TraceIQ_DB, followed by rigorous data quality checks — completeness and duplicate detection — before any business query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Beyond basic aggregation, the SQL layer uses CASE-based scoring, CTEs, and the DENSE_RANK window function to produce governed, reusable business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tools serve three audiences from the same governed dataset: Tableau for interactive exploration, Power BI for executive and strategic reporting, and Excel for lightweight offline sharing. Live dashboard screenshots can be inserted here once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recommendations translate the Python, SQL, and BI findings into concrete, prioritized actions for sustainability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close by tying achievements, findings, and business value back to the original problem statement, and open the floor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4572000" cy="4572000"/>
          </a:xfrm>
          <a:prstGeom prst="ellipse">
            <a:avLst/>
          </a:prstGeom>
          <a:solidFill>
            <a:srgbClr val="12325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4114800" cy="4114800"/>
          </a:xfrm>
          <a:prstGeom prst="ellipse">
            <a:avLst/>
          </a:prstGeom>
          <a:solidFill>
            <a:srgbClr val="0F2A4D"/>
          </a:solidFill>
          <a:ln/>
        </p:spPr>
      </p:sp>
      <p:pic>
        <p:nvPicPr>
          <p:cNvPr id="4" name="Image 0" descr="/home/claude/work/assets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1737360" cy="841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METHANE EMISSIONS ANALYSIS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299923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Sustainability Decision Support System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68680" y="3703320"/>
            <a:ext cx="1188720" cy="41148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 Analytics Project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Mina Sabry  </a:t>
            </a:r>
            <a:r>
              <a:rPr lang="en-US" sz="1250" dirty="0">
                <a:solidFill>
                  <a:srgbClr val="9FB3CC"/>
                </a:solidFill>
              </a:rPr>
              <a:t>— Power BI Developer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89204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Rosy Mohamed  </a:t>
            </a:r>
            <a:r>
              <a:rPr lang="en-US" sz="1250" dirty="0">
                <a:solidFill>
                  <a:srgbClr val="9FB3CC"/>
                </a:solidFill>
              </a:rPr>
              <a:t>— SQL Developer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525780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Nouran Mohamed  </a:t>
            </a:r>
            <a:r>
              <a:rPr lang="en-US" sz="1250" dirty="0">
                <a:solidFill>
                  <a:srgbClr val="9FB3CC"/>
                </a:solidFill>
              </a:rPr>
              <a:t>— Python Data Analyst &amp; Tableau Developer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5623560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Shahd Mohamed  </a:t>
            </a:r>
            <a:r>
              <a:rPr lang="en-US" sz="1250" dirty="0">
                <a:solidFill>
                  <a:srgbClr val="9FB3CC"/>
                </a:solidFill>
              </a:rPr>
              <a:t>— Excel Data Dashboard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6355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F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SQL  •  Tableau  •  Power BI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179443-A349-2112-5D7E-A273CEA568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775"/>
            <a:ext cx="12192000" cy="66484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AB85EB-6993-377B-5A53-D6A697BA1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7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48996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00200"/>
            <a:ext cx="82296" cy="329184"/>
          </a:xfrm>
          <a:prstGeom prst="roundRect">
            <a:avLst>
              <a:gd name="adj" fmla="val 22222"/>
            </a:avLst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7276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984248"/>
            <a:ext cx="3087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Methane is the second-largest contributor to global warming after CO₂, with roughly 80x the near-term warming potency. Oil and gas facilities are among its largest industrial sources.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67200" y="1417320"/>
            <a:ext cx="348996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4468368" y="1600200"/>
            <a:ext cx="82296" cy="329184"/>
          </a:xfrm>
          <a:prstGeom prst="roundRect">
            <a:avLst>
              <a:gd name="adj" fmla="val 22222"/>
            </a:avLst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4632960" y="157276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68368" y="1984248"/>
            <a:ext cx="3087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Facility-level methane data is fragmented across formats and tools, leaving decision-makers without a unified, evidence-based view of where emissions are concentrated and which interventions matter most.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85760" y="1417320"/>
            <a:ext cx="348996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186928" y="1600200"/>
            <a:ext cx="82296" cy="329184"/>
          </a:xfrm>
          <a:prstGeom prst="roundRect">
            <a:avLst>
              <a:gd name="adj" fmla="val 22222"/>
            </a:avLst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8351520" y="157276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86928" y="1984248"/>
            <a:ext cx="3087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21,679 facility-level readings into a single analytics pipeline — Python for exploration, SQL for governed metrics, and Tableau / Power BI for executive reporting.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348996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794760"/>
            <a:ext cx="82296" cy="329184"/>
          </a:xfrm>
          <a:prstGeom prst="roundRect">
            <a:avLst>
              <a:gd name="adj" fmla="val 22222"/>
            </a:avLst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76732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9808" y="4178808"/>
            <a:ext cx="3087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high-impact facilities and operators, quantify super-emitter risk, and rank sustainability strategies by feasibility and emissions-reduction potential.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67200" y="3611880"/>
            <a:ext cx="348996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4468368" y="3794760"/>
            <a:ext cx="82296" cy="329184"/>
          </a:xfrm>
          <a:prstGeom prst="roundRect">
            <a:avLst>
              <a:gd name="adj" fmla="val 22222"/>
            </a:avLst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4632960" y="376732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68368" y="4178808"/>
            <a:ext cx="3087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decision-support system that flags priority facilities, benchmarks countries and companies, and recommends the strategy with the best difficulty-to-impact ratio.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85760" y="3611880"/>
            <a:ext cx="348996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6928" y="3794760"/>
            <a:ext cx="82296" cy="329184"/>
          </a:xfrm>
          <a:prstGeom prst="roundRect">
            <a:avLst>
              <a:gd name="adj" fmla="val 22222"/>
            </a:avLst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8351520" y="3767328"/>
            <a:ext cx="2941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Impact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86928" y="4178808"/>
            <a:ext cx="30876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reduction at the top 3.1% of super-emitting facilities can deliver disproportionate cuts to global methane output at comparatively low operational cost.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6687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36192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21,679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Records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400300" y="1417320"/>
            <a:ext cx="16687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2400300" y="1536192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46020" y="20116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Facilities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51960" y="1417320"/>
            <a:ext cx="16687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1536192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97680" y="20116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Covered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03620" y="1417320"/>
            <a:ext cx="16687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6103620" y="1536192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49340" y="20116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955280" y="1417320"/>
            <a:ext cx="16687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1536192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001000" y="20116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Coverage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806940" y="1417320"/>
            <a:ext cx="1668780" cy="1051560"/>
          </a:xfrm>
          <a:prstGeom prst="roundRect">
            <a:avLst>
              <a:gd name="adj" fmla="val 6957"/>
            </a:avLst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9806940" y="1536192"/>
            <a:ext cx="16687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852660" y="20116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Super-Emitter Sites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Fields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0927080" cy="31089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6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Relevance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facility_id / facility_name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Uniquely tracks each of the 1,500 monitored sites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source_type / subsector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Distinguishes oil-and-gas production vs. transport operations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iso3 / lat / lon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Enables country ranking and geospatial hotspot mapping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/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Supports trend, seasonality, and peak-period analysis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emission_quantity / confidence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KPI, weighted by measurement reliability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immediate_source_owner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 emissions to responsible corporate operators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recommended_strategy_name / difficulty_score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/ 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 the sustainability recommendation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/ population / co2 / methane / energy_per_capita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Links emissions to macro-economic and environmental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known_super_emitter_flag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 the highest-priority facilities for intervention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E823E2-8736-7B8F-E981-13E109111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"/>
            <a:ext cx="12192000" cy="6800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6C7618-1269-D970-3AE2-A58CFC89B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530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3337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21,679-row facility dataset into pandas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121408" y="30175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23160" y="23774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2E8B57"/>
          </a:solidFill>
          <a:ln/>
        </p:spPr>
      </p:sp>
      <p:sp>
        <p:nvSpPr>
          <p:cNvPr id="10" name="Text 8"/>
          <p:cNvSpPr/>
          <p:nvPr/>
        </p:nvSpPr>
        <p:spPr>
          <a:xfrm>
            <a:off x="253288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6032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3337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standardize types, verify keys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95928" y="30175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7680" y="23774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440740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43484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3337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distributions, confidence levels, and outliers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70448" y="30175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72200" y="23774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2E8B57"/>
          </a:solidFill>
          <a:ln/>
        </p:spPr>
      </p:sp>
      <p:sp>
        <p:nvSpPr>
          <p:cNvPr id="20" name="Text 18"/>
          <p:cNvSpPr/>
          <p:nvPr/>
        </p:nvSpPr>
        <p:spPr>
          <a:xfrm>
            <a:off x="628192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0936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3337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Plotly &amp; Matplotlib charts for every KPI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44968" y="30175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046720" y="23774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0B1F3A"/>
          </a:solidFill>
          <a:ln/>
        </p:spPr>
      </p:sp>
      <p:sp>
        <p:nvSpPr>
          <p:cNvPr id="25" name="Text 23"/>
          <p:cNvSpPr/>
          <p:nvPr/>
        </p:nvSpPr>
        <p:spPr>
          <a:xfrm>
            <a:off x="815644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18388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83880" y="3337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patterns into sustainability findings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19488" y="30175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9921240" y="2377440"/>
            <a:ext cx="1554480" cy="1737360"/>
          </a:xfrm>
          <a:prstGeom prst="roundRect">
            <a:avLst>
              <a:gd name="adj" fmla="val 4706"/>
            </a:avLst>
          </a:prstGeom>
          <a:solidFill>
            <a:srgbClr val="2E8B57"/>
          </a:solidFill>
          <a:ln/>
        </p:spPr>
      </p:sp>
      <p:sp>
        <p:nvSpPr>
          <p:cNvPr id="30" name="Text 28"/>
          <p:cNvSpPr/>
          <p:nvPr/>
        </p:nvSpPr>
        <p:spPr>
          <a:xfrm>
            <a:off x="10030968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5840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Results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0" y="333756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clean tables to SQL and BI tools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4572000"/>
            <a:ext cx="10927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 stage transforms 21,679 raw facility readings into a governed, analysis-ready dataset. Every downstream SQL query and BI dashboard in this presentation is traceable back to this pipeline.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5349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/>
        </p:spPr>
      </p:sp>
      <p:sp>
        <p:nvSpPr>
          <p:cNvPr id="35" name="Text 33"/>
          <p:cNvSpPr/>
          <p:nvPr/>
        </p:nvSpPr>
        <p:spPr>
          <a:xfrm>
            <a:off x="713232" y="542239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13232" y="5641848"/>
            <a:ext cx="50200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six-stage pipeline ensures every chart in this deck, and every SQL metric downstream, is built on the same validated dataset.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80760" y="534924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AF3EC"/>
          </a:solidFill>
          <a:ln/>
        </p:spPr>
      </p:sp>
      <p:sp>
        <p:nvSpPr>
          <p:cNvPr id="38" name="Text 36"/>
          <p:cNvSpPr/>
          <p:nvPr/>
        </p:nvSpPr>
        <p:spPr>
          <a:xfrm>
            <a:off x="6245352" y="542239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45352" y="5641848"/>
            <a:ext cx="50200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this pipeline as a scheduled Python job so new facility readings refresh the analysis without manual rework.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Locations Worldwide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37972"/>
            <a:ext cx="7040880" cy="3124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locations sized by emission quantity, colored by subsector (Python / Plotly)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size represents emission_quantity — larger circles mark higher-output facilities.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color distinguishes oil-and-gas-transport (dark blue) from oil-and-gas-production (light blue) subsectors.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hotspots cluster around West Africa, the Gulf, Central Asia, and the North Sea.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are dispersed across 20 countries, but intensity is highly uneven geographically.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geographic clusters — not a uniform global spread — account for the largest visible emission bubbles, pointing to regional infrastructure and regulatory gaps.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site inspections and monitoring investment in the identified hotspot regions before expanding oversight elsewhere.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 Distribution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conf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40243"/>
            <a:ext cx="7040880" cy="25203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counts by measurement confidence level (Python / Plotly)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“High” and “medium” confidence readings together make up the large majority of all records.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“Very high” and “low” confidence levels are roughly comparable in volume.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“Very low” confidence readings are the smallest group, limiting how much they should influence decisions.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 should weight how strongly any single reading drives strategy or investment decisions.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bulk of the dataset carries high-to-medium measurement confidence, which supports using emission_quantity as a reliable basis for facility-level prioritization.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low and very-low confidence readings for re-measurement before they inform high-stakes investment or compliance decisions.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Trend Over 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04065"/>
            <a:ext cx="7040880" cy="259267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emission_quantity by month, April 2024 – April 2026 (Python / Plotly)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totals hold a relatively stable band between roughly 200K and 300K units through most of the series.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 spike appears around January 2026, reaching nearly 800K units before falling back.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spike suggests a discrete operational event — a leak, maintenance shutdown, or reporting anomaly — rather than a gradual trend shift.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return toward the historical baseline within two months of the peak.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January 2026 spike is the single most significant anomaly in the dataset and likely traces back to a small number of facilities rather than a systemic shift.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facility-level records from December 2025 – February 2026 to isolate the root cause and prevent recurrence.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Emissions by Subsector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subs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14461"/>
            <a:ext cx="7040880" cy="25718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emission_quantity by subsector (Python / Plotly)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Oil-and-gas-transport accounts for roughly 3.7M emission units, versus about 3.2M for oil-and-gas-production.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infrastructure — pipelines, compressor stations, storage — generates the larger overall share.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in the dataset is classified as a point-source emission, so source_type itself is not a differentiator here.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subsectors are close in magnitude, implying interventions are needed on both fronts, not just one.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Transport-related infrastructure is a marginally larger emissions contributor than production, making pipeline integrity and compressor maintenance a first-order priority alongside upstream production controls.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parallel Leak Detection and Repair (LDAR) programs across both subsectors rather than concentrating resources on production sites alone.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Countries by Emissions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68411"/>
            <a:ext cx="7040880" cy="266397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emission_quantity by country, top 20 by iso3 code (Python / Plotly)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 (RUS) leads all countries, followed closely by Canada (CAN), Qatar (QAT), Algeria (DZA), and Saudi Arabia (SAU).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five countries account for a disproportionate share of total measured emissions.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oil-and-gas exporting economies dominate the ranking, consistent with the dataset's industrial focus.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generally track the scale of each country's oil-and-gas production and export infrastructure.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intensity concentrates in a handful of major hydrocarbon-exporting nations, meaning global reduction targets hinge disproportionately on policy engagement with this small group of countries.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bilateral sustainability partnerships and technology-transfer programs with the top five emitting countries to maximize global impact per dollar invested.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Super-Emitters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superem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061" y="1371600"/>
            <a:ext cx="4374037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facilities flagged as known super-emitters (Python / Matplotlib)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663 facilities — 3.1% of all 21,679 records — are flagged as known super-emitters.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96.9% (21,016 records) fall under the regular-emitter classification.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Super-emitter status is defined by the known_super_emitter_flag field in the source dataset.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facility subset historically drives an outsized share of methane output, consistent with global methane research.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super-emitters represent just 3.1% of facilities, this is the highest-leverage segment in the entire dataset — a small, well-defined target list rather than a broad industry-wide mandate.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standing monitoring and rapid-response program specifically for the 663 flagged super-emitter facilities, reviewed quarterly.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Companies by Total Emissions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731520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101600" dist="38100" dir="5400000" algn="bl" rotWithShape="0">
              <a:srgbClr val="1A2433">
                <a:alpha val="15000"/>
              </a:srgbClr>
            </a:outerShdw>
          </a:effectLst>
        </p:spPr>
      </p:sp>
      <p:pic>
        <p:nvPicPr>
          <p:cNvPr id="5" name="Image 0" descr="/home/claude/work/assets/compan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15" y="1371600"/>
            <a:ext cx="6131129" cy="3657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21208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emission_quantity by immediate_source_owner, top 10 companies (Python / Matplotlib)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8181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18120" y="173736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Gazprom and Shell lead the ranking, each associated with roughly 590K–600K emission units.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Equinor, PetroChina, and Pemex round out the top five, each above 400K units.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Aramco, Occidental Petroleum, Chevron, Petrobras, and TotalEnergies complete the top ten, each in the 340K–380K range.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concentration means a handful of multinational operators control a large share of measured global emissions.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largest operators — spanning state-owned and multinational companies across Russia, Europe, North America, and the Middle East — collectively represent a concentrated, addressable set of accountability targets.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03620" y="5486400"/>
            <a:ext cx="5372100" cy="868680"/>
          </a:xfrm>
          <a:prstGeom prst="roundRect">
            <a:avLst>
              <a:gd name="adj" fmla="val 8421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68212" y="5559552"/>
            <a:ext cx="50429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68212" y="5779008"/>
            <a:ext cx="504291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the top-10 operators directly on facility-level LDAR commitments; corporate-level accountability agreements will move the aggregate number faster than country-level policy alone.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Insights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64208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627632"/>
            <a:ext cx="4411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Hotspots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0160" y="1965960"/>
            <a:ext cx="44119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Africa, the Gulf, Central Asia, and the North Sea host the largest emission clusters.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49340" y="14630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6350508" y="1664208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6350508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80860" y="1627632"/>
            <a:ext cx="4411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Balance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880860" y="1965960"/>
            <a:ext cx="44119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(~3.7M units) narrowly outweighs production (~3.2M units) — both need attention.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264408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227832"/>
            <a:ext cx="4411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High-Emission Operators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0160" y="3566160"/>
            <a:ext cx="44119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Gazprom, Shell, and Equinor anchor a concentrated top-10 company list.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9340" y="30632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20" name="Shape 18"/>
          <p:cNvSpPr/>
          <p:nvPr/>
        </p:nvSpPr>
        <p:spPr>
          <a:xfrm>
            <a:off x="6350508" y="3264408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1" name="Text 19"/>
          <p:cNvSpPr/>
          <p:nvPr/>
        </p:nvSpPr>
        <p:spPr>
          <a:xfrm>
            <a:off x="6350508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80860" y="3227832"/>
            <a:ext cx="4411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Quality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80860" y="3566160"/>
            <a:ext cx="44119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readings carry high-to-medium confidence, supporting reliable prioritization.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4864608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4864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4828032"/>
            <a:ext cx="4411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Anomaly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80160" y="5166360"/>
            <a:ext cx="44119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 January 2026 spike stands out against an otherwise stable monthly baseline.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49340" y="466344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4F6F8"/>
          </a:solidFill>
          <a:ln/>
        </p:spPr>
      </p:sp>
      <p:sp>
        <p:nvSpPr>
          <p:cNvPr id="30" name="Shape 28"/>
          <p:cNvSpPr/>
          <p:nvPr/>
        </p:nvSpPr>
        <p:spPr>
          <a:xfrm>
            <a:off x="6350508" y="4864608"/>
            <a:ext cx="384048" cy="384048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31" name="Text 29"/>
          <p:cNvSpPr/>
          <p:nvPr/>
        </p:nvSpPr>
        <p:spPr>
          <a:xfrm>
            <a:off x="6350508" y="48646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80860" y="4828032"/>
            <a:ext cx="4411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Super-Emitter Leverage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880860" y="5166360"/>
            <a:ext cx="44119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3.1% of facilities (663 sites) represent the highest-impact intervention target.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ANALYSIS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Architecture &amp; Data Quality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68680" cy="141732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645920"/>
            <a:ext cx="758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(TraceIQ_DB)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417320" y="20345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691640" y="1508760"/>
            <a:ext cx="868680" cy="1417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46504" y="1645920"/>
            <a:ext cx="758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(Sheet1$)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560320" y="20345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1508760"/>
            <a:ext cx="868680" cy="1417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9504" y="1645920"/>
            <a:ext cx="758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(facility_id)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703320" y="20345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77640" y="1508760"/>
            <a:ext cx="868680" cy="1417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32504" y="1645920"/>
            <a:ext cx="758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20345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20640" y="1508760"/>
            <a:ext cx="868680" cy="1417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75504" y="1645920"/>
            <a:ext cx="758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Queries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89320" y="20345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63640" y="1508760"/>
            <a:ext cx="868680" cy="1417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18504" y="1645920"/>
            <a:ext cx="7589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32461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 Performed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566160"/>
            <a:ext cx="6675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Row-count and completeness verification across all 21,679 imported records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checks on facility_id, facility_name, source_type, and emission_quantity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facility_id detection via GROUP BY / HAVING COUNT(*) &gt; 1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consistency between facility, geographic, and company fields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498080" y="150876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0B1F3A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166420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Query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26680" y="1965960"/>
            <a:ext cx="3703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- COUNT(facility_id)   AS Missing_ID,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- COUNT(emission_quantity)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AS Missing_Emission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Sheet1$;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26680" y="32461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26680" y="3547872"/>
            <a:ext cx="3703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facility_id, COUNT(*) AS Dup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Sheet1$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facility_id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6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26680" y="466344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0 missing keys, 0 duplicate facility_id values — dataset is clean and query-ready.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57784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565099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13232" y="5870448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TraceIQ_DB architecture enforces primary-key integrity and passes all data-quality checks, giving downstream Tableau and Power BI dashboards a trustworthy foundation.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0760" y="557784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EAF3EC"/>
          </a:solidFill>
          <a:ln/>
        </p:spPr>
      </p:sp>
      <p:sp>
        <p:nvSpPr>
          <p:cNvPr id="33" name="Text 31"/>
          <p:cNvSpPr/>
          <p:nvPr/>
        </p:nvSpPr>
        <p:spPr>
          <a:xfrm>
            <a:off x="6245352" y="565099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45352" y="5870448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these validation queries to run automatically on every data refresh to catch quality issues before they reach the BI layer.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Intelligence &amp; Advanced Queries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Metrics Delivered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5577840" cy="339242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Delivers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Emissions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6.86M units aggregated across all facilities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Ranking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DENSE_RANK() window function orders 20 countries by output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 Performance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CASE-based Critical / High / Medium / Low tiers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Emission Risk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Per-facility risk banding for triage and audits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strategies to facilities by reduction potential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Achievement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 % = recommended savings ÷ current emissions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137160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Techniques Applied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0" y="1691640"/>
            <a:ext cx="5074920" cy="3566160"/>
          </a:xfrm>
          <a:prstGeom prst="roundRect">
            <a:avLst>
              <a:gd name="adj" fmla="val 2051"/>
            </a:avLst>
          </a:prstGeom>
          <a:solidFill>
            <a:srgbClr val="F4F6F8"/>
          </a:solidFill>
          <a:ln/>
        </p:spPr>
      </p:sp>
      <p:sp>
        <p:nvSpPr>
          <p:cNvPr id="8" name="Text 5"/>
          <p:cNvSpPr/>
          <p:nvPr/>
        </p:nvSpPr>
        <p:spPr>
          <a:xfrm>
            <a:off x="6629400" y="1920240"/>
            <a:ext cx="4617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/ ORDER BY — aggregation and ranking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— risk and performance banding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COUNT() / SUM() / AVG() — core KPI calculations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— duplicate and outlier filtering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(WITH clause) — modular country-emission subqueries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DENSE_RANK() window function — tie-aware country ranking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557784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F4F6F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565099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 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13232" y="5870448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and CTEs let a single query set (Country Ranking, KPI Achievement, Facility Performance Score) power every downstream dashboard without redundant logic.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080760" y="5577840"/>
            <a:ext cx="5349240" cy="822960"/>
          </a:xfrm>
          <a:prstGeom prst="roundRect">
            <a:avLst>
              <a:gd name="adj" fmla="val 8889"/>
            </a:avLst>
          </a:prstGeom>
          <a:solidFill>
            <a:srgbClr val="EAF3EC"/>
          </a:solidFill>
          <a:ln/>
        </p:spPr>
      </p:sp>
      <p:sp>
        <p:nvSpPr>
          <p:cNvPr id="13" name="Text 10"/>
          <p:cNvSpPr/>
          <p:nvPr/>
        </p:nvSpPr>
        <p:spPr>
          <a:xfrm>
            <a:off x="6245352" y="5650992"/>
            <a:ext cx="5020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 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245352" y="5870448"/>
            <a:ext cx="50200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 the CTE-based country ranking as a SQL view so Tableau and Power BI always read the same governed metric.</a:t>
            </a:r>
            <a:endParaRPr lang="en-US" sz="1100" dirty="0"/>
          </a:p>
        </p:txBody>
      </p:sp>
      <p:sp>
        <p:nvSpPr>
          <p:cNvPr id="5" name="Text 12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Multi-Tool Business Intelligence 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governed SQL metrics feed three complementary reporting tools, each serving a distinct stakeholder audience.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59480" cy="3520440"/>
          </a:xfrm>
          <a:prstGeom prst="roundRect">
            <a:avLst>
              <a:gd name="adj" fmla="val 2643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3459480" cy="777240"/>
          </a:xfrm>
          <a:prstGeom prst="roundRect">
            <a:avLst>
              <a:gd name="adj" fmla="val 11765"/>
            </a:avLst>
          </a:prstGeom>
          <a:solidFill>
            <a:srgbClr val="2E8B5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77440"/>
            <a:ext cx="3459480" cy="32004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48256"/>
            <a:ext cx="309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309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Nouran Mohamed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2880360"/>
            <a:ext cx="3057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geographic filtering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Facility-level drill-down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 trend exploration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Cross-filtered dashboard views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82440" y="1920240"/>
            <a:ext cx="3459480" cy="3520440"/>
          </a:xfrm>
          <a:prstGeom prst="roundRect">
            <a:avLst>
              <a:gd name="adj" fmla="val 2643"/>
            </a:avLst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82440" y="1920240"/>
            <a:ext cx="3459480" cy="777240"/>
          </a:xfrm>
          <a:prstGeom prst="roundRect">
            <a:avLst>
              <a:gd name="adj" fmla="val 11765"/>
            </a:avLst>
          </a:prstGeom>
          <a:solidFill>
            <a:srgbClr val="3FA9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282440" y="2377440"/>
            <a:ext cx="3459480" cy="320040"/>
          </a:xfrm>
          <a:prstGeom prst="rect">
            <a:avLst/>
          </a:prstGeom>
          <a:solidFill>
            <a:srgbClr val="3FA9F5"/>
          </a:solidFill>
          <a:ln/>
        </p:spPr>
      </p:sp>
      <p:sp>
        <p:nvSpPr>
          <p:cNvPr id="14" name="Text 12"/>
          <p:cNvSpPr/>
          <p:nvPr/>
        </p:nvSpPr>
        <p:spPr>
          <a:xfrm>
            <a:off x="4465320" y="2048256"/>
            <a:ext cx="309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65320" y="2377440"/>
            <a:ext cx="309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Mina Sabry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3608" y="2880360"/>
            <a:ext cx="3057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cards &amp; scorecards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country / facility comparison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 management view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for on-demand analysis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16240" y="1920240"/>
            <a:ext cx="3459480" cy="3520440"/>
          </a:xfrm>
          <a:prstGeom prst="roundRect">
            <a:avLst>
              <a:gd name="adj" fmla="val 2643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8016240" y="1920240"/>
            <a:ext cx="3459480" cy="777240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9" name="Shape 17"/>
          <p:cNvSpPr/>
          <p:nvPr/>
        </p:nvSpPr>
        <p:spPr>
          <a:xfrm>
            <a:off x="8016240" y="2377440"/>
            <a:ext cx="3459480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8199120" y="2048256"/>
            <a:ext cx="309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99120" y="2377440"/>
            <a:ext cx="3093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Developer: Shahd Mohamed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17408" y="2880360"/>
            <a:ext cx="3057144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Pivot-table dashboard summaries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subsector breakdowns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Super-emitter distribution view</a:t>
            </a:r>
            <a:endParaRPr lang="en-US" sz="10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offline sharing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&amp; REPORTING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1A243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25880" y="1563624"/>
            <a:ext cx="4366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3.1% Super-Emitters 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929384"/>
            <a:ext cx="43662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quarterly monitoring cycle for the 663 flagged facilities — the single highest-leverage segment in the dataset.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49340" y="141732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1A2433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13932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926580" y="1563624"/>
            <a:ext cx="4366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LDAR Across Both Subsectors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6580" y="1929384"/>
            <a:ext cx="43662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 Detection and Repair is the most frequently recommended strategy (3,999 facilities) and applies to both transport and production sites.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25880" y="3163824"/>
            <a:ext cx="4366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 the Top-10 Operators Directly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529584"/>
            <a:ext cx="43662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Gazprom, Shell, Equinor, PetroChina, and peers control a concentrated, addressable share of global emissions — pursue corporate-level commitments.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9340" y="301752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1A243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13932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26580" y="3163824"/>
            <a:ext cx="4366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January 2026 Anomaly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26580" y="3529584"/>
            <a:ext cx="43662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the emissions spike before it recurs; isolate the responsible facilities using the SQL trend and risk-score queries.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1A2433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4754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325880" y="4764024"/>
            <a:ext cx="4366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Policy on the Top-5 Countries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5129784"/>
            <a:ext cx="43662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Russia, Canada, Qatar, Algeria, and Saudi Arabia dominate country-level output — bilateral programs here move the global number fastest.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49340" y="4617720"/>
            <a:ext cx="53263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76200" dist="25400" dir="5400000" algn="bl" rotWithShape="0">
              <a:srgbClr val="1A2433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13932" y="4754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926580" y="4764024"/>
            <a:ext cx="43662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 the Recommendation Engine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26580" y="5129784"/>
            <a:ext cx="43662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the six sustainability strategies by reduction-per-difficulty and route each facility to its best-fit strategy automatically.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Computers and Data Science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2325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572000" cy="4572000"/>
          </a:xfrm>
          <a:prstGeom prst="ellipse">
            <a:avLst/>
          </a:prstGeom>
          <a:solidFill>
            <a:srgbClr val="0F2A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Emissions Data to Sustainability Action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539746" cy="3246120"/>
          </a:xfrm>
          <a:prstGeom prst="roundRect">
            <a:avLst>
              <a:gd name="adj" fmla="val 2880"/>
            </a:avLst>
          </a:prstGeom>
          <a:solidFill>
            <a:srgbClr val="12294A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856232"/>
            <a:ext cx="22105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Achievements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221056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Python → SQL → BI pipeline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21,679 records validated &amp; analyzed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governed sustainability KPIs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44418" y="1691640"/>
            <a:ext cx="2539746" cy="3246120"/>
          </a:xfrm>
          <a:prstGeom prst="roundRect">
            <a:avLst>
              <a:gd name="adj" fmla="val 2880"/>
            </a:avLst>
          </a:prstGeom>
          <a:solidFill>
            <a:srgbClr val="12294A"/>
          </a:solidFill>
          <a:ln/>
        </p:spPr>
      </p:sp>
      <p:sp>
        <p:nvSpPr>
          <p:cNvPr id="10" name="Text 8"/>
          <p:cNvSpPr/>
          <p:nvPr/>
        </p:nvSpPr>
        <p:spPr>
          <a:xfrm>
            <a:off x="3509010" y="1856232"/>
            <a:ext cx="22105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09010" y="2423160"/>
            <a:ext cx="221056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3.1% of facilities drive outsized risk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countries dominate output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slightly exceeds production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40196" y="1691640"/>
            <a:ext cx="2539746" cy="3246120"/>
          </a:xfrm>
          <a:prstGeom prst="roundRect">
            <a:avLst>
              <a:gd name="adj" fmla="val 2880"/>
            </a:avLst>
          </a:prstGeom>
          <a:solidFill>
            <a:srgbClr val="1229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04788" y="1856232"/>
            <a:ext cx="22105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Environmental Value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04788" y="2423160"/>
            <a:ext cx="221056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targets for fast wins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per facility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ongoing monitoring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935974" y="1691640"/>
            <a:ext cx="2539746" cy="3246120"/>
          </a:xfrm>
          <a:prstGeom prst="roundRect">
            <a:avLst>
              <a:gd name="adj" fmla="val 2880"/>
            </a:avLst>
          </a:prstGeom>
          <a:solidFill>
            <a:srgbClr val="12294A"/>
          </a:solidFill>
          <a:ln/>
        </p:spPr>
      </p:sp>
      <p:sp>
        <p:nvSpPr>
          <p:cNvPr id="16" name="Text 14"/>
          <p:cNvSpPr/>
          <p:nvPr/>
        </p:nvSpPr>
        <p:spPr>
          <a:xfrm>
            <a:off x="9100566" y="1856232"/>
            <a:ext cx="221056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3FA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00566" y="2423160"/>
            <a:ext cx="2210562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risk prediction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facility monitoring feeds</a:t>
            </a:r>
            <a:endParaRPr lang="en-US" sz="9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950" dirty="0">
                <a:solidFill>
                  <a:srgbClr val="E4E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of the pipeline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94960" y="5257800"/>
            <a:ext cx="1371600" cy="36576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3949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EDDCB55-1258-8B41-60DC-1D2484334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5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3010</Words>
  <Application>Microsoft Office PowerPoint</Application>
  <PresentationFormat>Widescreen</PresentationFormat>
  <Paragraphs>406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Rosy mohamed</cp:lastModifiedBy>
  <cp:revision>3</cp:revision>
  <dcterms:created xsi:type="dcterms:W3CDTF">2026-07-25T02:03:10Z</dcterms:created>
  <dcterms:modified xsi:type="dcterms:W3CDTF">2026-07-25T07:30:38Z</dcterms:modified>
</cp:coreProperties>
</file>
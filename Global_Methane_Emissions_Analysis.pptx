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5" r:id="rId18"/>
    <p:sldId id="274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03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addresses a fragmented view of industrial methane emissions by unifying Python analysis, SQL governance, and BI reporting into one decision-support pipeline. The goal is to help stakeholders prioritize the facilities and strategies that reduce the most emissions for the least operational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spans 21,679 records across 1,500 facilities in 20 countries over 2024-2026, combining operational, geographic, economic, and environmental fields to support a full sustainability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the foundation of the pipeline: import, clean, explore, visualize, and export, feeding directly into SQL and both BI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 shows the geographic distribution of all monitored facilities. Bubble size encodes emission volume and color encodes subsector, revealing clear regional hotspots.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level reflects how reliable each emission reading is. Most records fall in the high and medium bands, which supports trusting the aggregate figures used throughout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line chart tracks total monthly emissions. The dataset is largely stable except for a sharp anomaly around January 2026 that warrants root-cause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Emissions split fairly evenly between transport and production subsectors, with transport slightly ahead. All records are point-source emissions, so the subsector split is the more actionable lens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Russia, Canada, Qatar, Algeria, and Saudi Arabia top the country ranking. These major hydrocarbon exporters offer the highest-leverage opportunities for emissions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Super-emitters make up just 3.1% of facilities. This concentration is the clearest opportunity in the dataset for high-impact, low-effort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Gazprom and Shell top the corporate emissions ranking, with a mix of state-owned and multinational operators rounding out the top ten — a concentrated group for targeted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closes the Python section by tying together the six visualizations into one coherent narrative before moving to the SQL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SQL layer starts with database and table setup in TraceIQ_DB, followed by rigorous data quality checks — completeness and duplicate detection — before any business query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basic aggregation, the SQL layer uses CASE-based scoring, CTEs, and the DENSE_RANK window function to produce governed, reusable business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tools serve three audiences from the same governed dataset: Tableau for interactive exploration, Power BI for executive and strategic reporting, and Excel for lightweight offline sharing. Live dashboard screenshots can be inserted here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recommendations translate the Python, SQL, and BI findings into concrete, prioritized actions for sustainability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close by tying achievements, findings, and business value back to the original problem statement,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114800" cy="4114800"/>
          </a:xfrm>
          <a:prstGeom prst="ellipse">
            <a:avLst/>
          </a:prstGeom>
          <a:solidFill>
            <a:srgbClr val="0F2A4D"/>
          </a:solidFill>
          <a:ln/>
        </p:spPr>
      </p:sp>
      <p:pic>
        <p:nvPicPr>
          <p:cNvPr id="4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737360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METHANE EMISSIONS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999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Sustainability Decision Support System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68680" y="3703320"/>
            <a:ext cx="1188720" cy="411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Analytics Project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Mina Sabry  </a:t>
            </a:r>
            <a:r>
              <a:rPr lang="en-US" sz="1250" dirty="0">
                <a:solidFill>
                  <a:srgbClr val="9FB3CC"/>
                </a:solidFill>
              </a:rPr>
              <a:t>— Power BI Developer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Rosy Mohamed  </a:t>
            </a:r>
            <a:r>
              <a:rPr lang="en-US" sz="1250" dirty="0">
                <a:solidFill>
                  <a:srgbClr val="9FB3CC"/>
                </a:solidFill>
              </a:rPr>
              <a:t>— SQL Developer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Nouran Mohamed  </a:t>
            </a:r>
            <a:r>
              <a:rPr lang="en-US" sz="1250" dirty="0">
                <a:solidFill>
                  <a:srgbClr val="9FB3CC"/>
                </a:solidFill>
              </a:rPr>
              <a:t>— Python Data Analyst &amp; Tableau Developer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6235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Shahd Mohamed  </a:t>
            </a:r>
            <a:r>
              <a:rPr lang="en-US" sz="1250" dirty="0">
                <a:solidFill>
                  <a:srgbClr val="9FB3CC"/>
                </a:solidFill>
              </a:rPr>
              <a:t>— Excel Data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355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Tableau  •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is the second-largest contributor to global warming after CO₂, with roughly 80x the near-term warming potency. Oil and gas facilities are among its largest industrial sources.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46836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463296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836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methane data is fragmented across formats and tools, leaving decision-makers without a unified, evidence-based view of where emissions are concentrated and which interventions matter most.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8576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692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835152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692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21,679 facility-level readings into a single analytics pipeline — Python for exploration, SQL for governed metrics, and Tableau / Power BI for executive reporting.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high-impact facilities and operators, quantify super-emitter risk, and rank sustainability strategies by feasibility and emissions-reduction potential.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6720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836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463296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836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decision-support system that flags priority facilities, benchmarks countries and companies, and recommends the strategy with the best difficulty-to-impact ratio.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8576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692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835152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692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reduction at the top 3.1% of super-emitting facilities can deliver disproportionate cuts to global methane output at comparatively low operational cost.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21,679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030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240030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4602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Facilities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362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10362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4934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0100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0694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980694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5266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Sites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Fields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0927080" cy="31089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facility_id / facility_name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tracks each of the 1,500 monitored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source_type / subsector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Distinguishes oil-and-gas production vs. transport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iso3 / lat / lon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country ranking and geospatial hotspot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trend, seasonality, and peak-period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emission_quantity /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KPI, weighted by measurement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immediate_source_owner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emissions to responsible corporate operators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recommended_strategy_name / difficulty_score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/ 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the sustainability recommendation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/ population / co2 / methane / energy_per_capita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emissions to macro-economic and environmental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known_super_emitter_flag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the highest-priority facilities for intervention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21,679-row facility dataset into pandas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140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standardize types, verify keys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9592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3484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distributions, confidence levels, and outliers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044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Plotly &amp; Matplotlib charts for every KPI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4496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4672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8388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patterns into sustainability findings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1948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2124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3096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clean tables to SQL and BI tools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stage transforms 21,679 raw facility readings into a governed, analysis-ready dataset. Every downstream SQL query and BI dashboard in this presentation is traceable back to this pipeline.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4223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3232" y="5641848"/>
            <a:ext cx="502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six-stage pipeline ensures every chart in this deck, and every SQL metric downstream, is built on the same validated dataset.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/>
        </p:spPr>
      </p:sp>
      <p:sp>
        <p:nvSpPr>
          <p:cNvPr id="38" name="Text 36"/>
          <p:cNvSpPr/>
          <p:nvPr/>
        </p:nvSpPr>
        <p:spPr>
          <a:xfrm>
            <a:off x="6245352" y="54223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45352" y="5641848"/>
            <a:ext cx="502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pipeline as a scheduled Python job so new facility readings refresh the analysis without manual rework.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Locations Worldwide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7972"/>
            <a:ext cx="7040880" cy="3124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locations sized by emission quantity, colored by subsector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represents emission_quantity — larger circles mark higher-output facilities.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color distinguishes oil-and-gas-transport (dark blue) from oil-and-gas-production (light blue) subsectors.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hotspots cluster around West Africa, the Gulf, Central Asia, and the North Sea.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are dispersed across 20 countries, but intensity is highly uneven geographically.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geographic clusters — not a uniform global spread — account for the largest visible emission bubbles, pointing to regional infrastructure and regulatory gaps.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site inspections and monitoring investment in the identified hotspot regions before expanding oversight elsewhere.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0243"/>
            <a:ext cx="7040880" cy="25203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counts by measurement confidence level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“High” and “medium” confidence readings together make up the large majority of all records.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high” and “low” confidence levels are roughly comparable in volume.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low” confidence readings are the smallest group, limiting how much they should influence decisions.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should weight how strongly any single reading drives strategy or investment decisions.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the dataset carries high-to-medium measurement confidence, which supports using emission_quantity as a reliable basis for facility-level prioritization.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 and very-low confidence readings for re-measurement before they inform high-stakes investment or compliance decisions.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Trend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4065"/>
            <a:ext cx="7040880" cy="25926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month, April 2024 – April 2026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totals hold a relatively stable band between roughly 200K and 300K units through most of the series.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spike appears around January 2026, reaching nearly 800K units before falling back.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suggests a discrete operational event — a leak, maintenance shutdown, or reporting anomaly — rather than a gradual trend shift.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return toward the historical baseline within two months of the peak.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January 2026 spike is the single most significant anomaly in the dataset and likely traces back to a small number of facilities rather than a systemic shift.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facility-level records from December 2025 – February 2026 to isolate the root cause and prevent recurrence.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 by Subsector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subs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4461"/>
            <a:ext cx="7040880" cy="2571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subsector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Oil-and-gas-transport accounts for roughly 3.7M emission units, versus about 3.2M for oil-and-gas-production.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infrastructure — pipelines, compressor stations, storage — generates the larger overall share.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in the dataset is classified as a point-source emission, so source_type itself is not a differentiator here.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subsectors are close in magnitude, implying interventions are needed on both fronts, not just 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Transport-related infrastructure is a marginally larger emissions contributor than production, making pipeline integrity and compressor maintenance a first-order priority alongside upstream production controls.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parallel Leak Detection and Repair (LDAR) programs across both subsectors rather than concentrating resources on production sites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Emissions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8411"/>
            <a:ext cx="7040880" cy="26639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country, top 20 by iso3 code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(RUS) leads all countries, followed closely by Canada (CAN), Qatar (QAT), Algeria (DZA), and Saudi Arabia (SAU).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five countries account for a disproportionate share of total measured emissions.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oil-and-gas exporting economies dominate the ranking, consistent with the dataset's industrial focus.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generally track the scale of each country's oil-and-gas production and export infrastructure.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intensity concentrates in a handful of major hydrocarbon-exporting nations, meaning global reduction targets hinge disproportionately on policy engagement with this small group of countries.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bilateral sustainability partnerships and technology-transfer programs with the top five emitting countries to maximize global impact per dollar invested.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supere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061" y="1371600"/>
            <a:ext cx="4374037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facilities flagged as known super-emitters (Python / Matplotlib)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663 facilities — 3.1% of all 21,679 records — are flagged as known super-emitters.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96.9% (21,016 records) fall under the regular-emitter classification.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status is defined by the known_super_emitter_flag field in the source dataset.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facility subset historically drives an outsized share of methane output, consistent with global methane research.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super-emitters represent just 3.1% of facilities, this is the highest-leverage segment in the entire dataset — a small, well-defined target list rather than a broad industry-wide mandate.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standing monitoring and rapid-response program specifically for the 663 flagged super-emitter facilities, reviewed quarterly.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Companies by Total Emissions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mpan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15" y="1371600"/>
            <a:ext cx="6131129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immediate_source_owner, top 10 companies (Python / Matplotlib)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 and Shell lead the ranking, each associated with roughly 590K–600K emission units.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Equinor, PetroChina, and Pemex round out the top five, each above 400K units.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Aramco, Occidental Petroleum, Chevron, Petrobras, and TotalEnergies complete the top ten, each in the 340K–380K range.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concentration means a handful of multinational operators control a large share of measured global emissions.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largest operators — spanning state-owned and multinational companies across Russia, Europe, North America, and the Middle East — collectively represent a concentrated, addressable set of accountability targets.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top-10 operators directly on facility-level LDAR commitments; corporate-level accountability agreements will move the aggregate number faster than country-level policy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Insights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Hotspots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Africa, the Gulf, Central Asia, and the North Sea host the largest emission clusters.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49340" y="1463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508" y="16642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50508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80860" y="16276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Balance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80860" y="19659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(~3.7M units) narrowly outweighs production (~3.2M units) — both need attention.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644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278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High-Emission Operators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Gazprom, Shell, and Equinor anchor a concentrated top-10 company list.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9340" y="30632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0508" y="32644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0860" y="32278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Quality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80860" y="35661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readings carry high-to-medium confidence, supporting reliable prioritization.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8646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8280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Anomaly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80160" y="51663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January 2026 spike stands out against an otherwise stable monthly baseline.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9340" y="46634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0508" y="48646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6350508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80860" y="48280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Leverage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80860" y="51663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3.1% of facilities (663 sites) represent the highest-impact intervention target.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Architecture &amp; Data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(TraceIQ_DB)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417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(Sheet1$)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(facility_id)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3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Performed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and completeness verification across all 21,679 imported records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 on facility_id, facility_name, source_type, and emission_quantity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facility_id detection via GROUP BY / HAVING COUNT(*) &gt; 1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consistency between facility, geographic, and company fields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150876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664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196596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- COUNT(facility_id)   AS Missing_ID,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- COUNT(emission_quantity)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AS Missing_Emission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Sheet1$;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32461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26680" y="354787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facility_id, COUNT(*) AS Dup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Sheet1$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facility_id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26680" y="46634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missing keys, 0 duplicate facility_id values — dataset is clean and query-ready.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TraceIQ_DB architecture enforces primary-key integrity and passes all data-quality checks, giving downstream Tableau and Power BI dashboards a trustworthy foundation.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4535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these validation queries to run automatically on every data refresh to catch quality issues before they reach the BI layer.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Intelligence &amp; Advanced Queries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Metrics Delivered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577840" cy="33924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Delivers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6.86M units aggregated across all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DENSE_RANK() window function orders 20 countries by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Performance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CASE-based Critical / High / Medium / Low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Per-facility risk banding for triage and audits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strategies to facilities by reduction potential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Achievement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 % = recommended savings ÷ current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Techniques Applied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92024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ORDER BY — aggregation and ranking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risk and performance banding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/ SUM() / AVG() — core KPI calculations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duplicate and outlier filtering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 clause) — modular country-emission subqueries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 window function — tie-aware country ranking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and CTEs let a single query set (Country Ranking, KPI Achievement, Facility Performance Score) power every downstream dashboard without redundant logic.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4535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4535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 the CTE-based country ranking as a SQL view so Tableau and Power BI always read the same governed metric.</a:t>
            </a:r>
            <a:endParaRPr lang="en-US" sz="1100" dirty="0"/>
          </a:p>
        </p:txBody>
      </p:sp>
      <p:sp>
        <p:nvSpPr>
          <p:cNvPr id="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Business Intelligence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SQL metrics feed three complementary reporting tools, each serving a distinct stakeholder audience.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2E8B5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3459480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Nouran Mohamed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geographic filtering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drill-down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trend exploration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Cross-filtered dashboard 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24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24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3FA9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2377440"/>
            <a:ext cx="3459480" cy="3200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44653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653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Mina Sabry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36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cards &amp; scorecards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country / facility comparison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management view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on-demand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162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62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16240" y="2377440"/>
            <a:ext cx="345948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1991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991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Shahd Mohamed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174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dashboard summaries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subsector breakdowns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distribution view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offline sharing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B3F9F-9E1F-A803-FF1A-C67C83A6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83" y="947630"/>
            <a:ext cx="8385093" cy="53528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B85FC-3A99-679C-E234-78B65A358297}"/>
              </a:ext>
            </a:extLst>
          </p:cNvPr>
          <p:cNvSpPr txBox="1"/>
          <p:nvPr/>
        </p:nvSpPr>
        <p:spPr>
          <a:xfrm>
            <a:off x="1770530" y="184666"/>
            <a:ext cx="8650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</a:rPr>
              <a:t>Executive Methane Emissions Intelligence Dashboard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21F497-8B68-FAFA-D1F0-2F0959B1F6C8}"/>
              </a:ext>
            </a:extLst>
          </p:cNvPr>
          <p:cNvSpPr/>
          <p:nvPr/>
        </p:nvSpPr>
        <p:spPr>
          <a:xfrm>
            <a:off x="499783" y="719030"/>
            <a:ext cx="2312895" cy="457200"/>
          </a:xfrm>
          <a:prstGeom prst="round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KPI Cards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6CC06-CCF9-DA85-2DBD-3A860BCECEC8}"/>
              </a:ext>
            </a:extLst>
          </p:cNvPr>
          <p:cNvSpPr txBox="1"/>
          <p:nvPr/>
        </p:nvSpPr>
        <p:spPr>
          <a:xfrm>
            <a:off x="311524" y="1258793"/>
            <a:ext cx="33550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YoY Emissions Growth %</a:t>
            </a:r>
            <a:endParaRPr lang="ar-EG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shows the percentage change in methane emissions compared to the previous year. A negative</a:t>
            </a:r>
            <a:r>
              <a:rPr lang="ar-EG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value indicates that emissions have decreased.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79E81A-A87F-0A77-9367-4FDC407D7104}"/>
              </a:ext>
            </a:extLst>
          </p:cNvPr>
          <p:cNvSpPr txBox="1"/>
          <p:nvPr/>
        </p:nvSpPr>
        <p:spPr>
          <a:xfrm>
            <a:off x="383242" y="2453355"/>
            <a:ext cx="35522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Total Recommended Reduction</a:t>
            </a:r>
            <a:endParaRPr lang="ar-EG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represents the total amount of methane emissions that could potentially be reduced by</a:t>
            </a:r>
            <a:r>
              <a:rPr lang="ar-EG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applying the recommended mitigation strategies.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82877-14F7-0DE5-BC68-444DDD81DFC9}"/>
              </a:ext>
            </a:extLst>
          </p:cNvPr>
          <p:cNvSpPr txBox="1"/>
          <p:nvPr/>
        </p:nvSpPr>
        <p:spPr>
          <a:xfrm>
            <a:off x="383242" y="3690993"/>
            <a:ext cx="2528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Total Emissions</a:t>
            </a:r>
            <a:endParaRPr lang="ar-EG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shows the total methane emissions included in the selected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E106F-5E76-18F9-84D5-60CAB16A48F4}"/>
              </a:ext>
            </a:extLst>
          </p:cNvPr>
          <p:cNvSpPr txBox="1"/>
          <p:nvPr/>
        </p:nvSpPr>
        <p:spPr>
          <a:xfrm>
            <a:off x="383242" y="4645100"/>
            <a:ext cx="2805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Previous Year Emissions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provides a comparison with the previous year's emissions to help identify trends.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03217-9BA1-48D5-F728-6A7965FE6594}"/>
              </a:ext>
            </a:extLst>
          </p:cNvPr>
          <p:cNvSpPr txBox="1"/>
          <p:nvPr/>
        </p:nvSpPr>
        <p:spPr>
          <a:xfrm>
            <a:off x="383242" y="5554194"/>
            <a:ext cx="23285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2060"/>
                </a:solidFill>
              </a:rPr>
              <a:t>Average Difficulty Score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indicates how difficult it is, on average, to implement the recommended reduction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52421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67AE3-BFBD-BD55-3AD8-B8A05582A3E8}"/>
              </a:ext>
            </a:extLst>
          </p:cNvPr>
          <p:cNvSpPr txBox="1"/>
          <p:nvPr/>
        </p:nvSpPr>
        <p:spPr>
          <a:xfrm>
            <a:off x="1586752" y="109390"/>
            <a:ext cx="90184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solidFill>
                  <a:srgbClr val="002060"/>
                </a:solidFill>
              </a:rPr>
              <a:t>TraceIQ</a:t>
            </a:r>
            <a:r>
              <a:rPr lang="en-US" sz="3000" b="1" dirty="0">
                <a:solidFill>
                  <a:srgbClr val="002060"/>
                </a:solidFill>
              </a:rPr>
              <a:t> Executive Emissions Monitoring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F95E0-231C-9A08-684A-C1A2ACB6D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92" y="804670"/>
            <a:ext cx="8657143" cy="5876190"/>
          </a:xfrm>
          <a:prstGeom prst="rect">
            <a:avLst/>
          </a:prstGeom>
          <a:ln>
            <a:solidFill>
              <a:srgbClr val="7030A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8D5CDB-8CC7-55E5-1F4D-3E6F16A0E1A7}"/>
              </a:ext>
            </a:extLst>
          </p:cNvPr>
          <p:cNvSpPr/>
          <p:nvPr/>
        </p:nvSpPr>
        <p:spPr>
          <a:xfrm>
            <a:off x="695107" y="1203091"/>
            <a:ext cx="1658471" cy="553998"/>
          </a:xfrm>
          <a:prstGeom prst="round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8222F-C0DC-1C9B-DA5C-92370064E120}"/>
              </a:ext>
            </a:extLst>
          </p:cNvPr>
          <p:cNvSpPr txBox="1"/>
          <p:nvPr/>
        </p:nvSpPr>
        <p:spPr>
          <a:xfrm>
            <a:off x="659247" y="1926063"/>
            <a:ext cx="2625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Month Filter :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month filter allows users to analyze methane emissions for a specific month or compare seasonal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8F4A1-47E4-44D5-2449-3451F9ED694B}"/>
              </a:ext>
            </a:extLst>
          </p:cNvPr>
          <p:cNvSpPr txBox="1"/>
          <p:nvPr/>
        </p:nvSpPr>
        <p:spPr>
          <a:xfrm>
            <a:off x="704074" y="3418476"/>
            <a:ext cx="2415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Year Filter :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year filter enables users to compare emissions across different years and identify long-term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68079-970E-FB8A-4DA2-871D833AE48F}"/>
              </a:ext>
            </a:extLst>
          </p:cNvPr>
          <p:cNvSpPr txBox="1"/>
          <p:nvPr/>
        </p:nvSpPr>
        <p:spPr>
          <a:xfrm>
            <a:off x="704074" y="5157110"/>
            <a:ext cx="2522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Country Filter (ISO3) :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Users can focus on a specific country to analyze its emission profile in more detail</a:t>
            </a:r>
          </a:p>
        </p:txBody>
      </p:sp>
    </p:spTree>
    <p:extLst>
      <p:ext uri="{BB962C8B-B14F-4D97-AF65-F5344CB8AC3E}">
        <p14:creationId xmlns:p14="http://schemas.microsoft.com/office/powerpoint/2010/main" val="46592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49D82-DB4E-6E04-4013-7E64F38F09A2}"/>
              </a:ext>
            </a:extLst>
          </p:cNvPr>
          <p:cNvSpPr txBox="1"/>
          <p:nvPr/>
        </p:nvSpPr>
        <p:spPr>
          <a:xfrm>
            <a:off x="2765611" y="0"/>
            <a:ext cx="66607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</a:rPr>
              <a:t>Global Methane Emissions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7718A-8527-78FD-CA68-5EB1F92E6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023" y="1210235"/>
            <a:ext cx="8960224" cy="5163672"/>
          </a:xfrm>
          <a:prstGeom prst="rect">
            <a:avLst/>
          </a:prstGeom>
          <a:ln>
            <a:solidFill>
              <a:srgbClr val="7030A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42696-C373-95DC-EB0D-BB27E0F7513B}"/>
              </a:ext>
            </a:extLst>
          </p:cNvPr>
          <p:cNvSpPr txBox="1"/>
          <p:nvPr/>
        </p:nvSpPr>
        <p:spPr>
          <a:xfrm>
            <a:off x="313765" y="1317811"/>
            <a:ext cx="27163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Emitting Country in Power Energy</a:t>
            </a:r>
            <a:endParaRPr lang="ar-EG" sz="1400" dirty="0"/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Displays the country with the highest methane emissions from the power energy sector.</a:t>
            </a:r>
          </a:p>
          <a:p>
            <a:pPr algn="ctr"/>
            <a:endParaRPr lang="ar-EG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Emitting Country in Waste</a:t>
            </a:r>
            <a:endParaRPr lang="ar-EG" sz="1400" dirty="0"/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Shows the country contributing the highest methane emissions from waste management activities.</a:t>
            </a:r>
          </a:p>
          <a:p>
            <a:pPr algn="ctr"/>
            <a:endParaRPr lang="ar-EG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Emitting Country in Transport</a:t>
            </a:r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Identifies the country with the highest transport-related methane emissions.</a:t>
            </a:r>
          </a:p>
          <a:p>
            <a:pPr algn="ctr"/>
            <a:endParaRPr lang="ar-EG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Top Emitting Country in Fugitive Energy</a:t>
            </a:r>
          </a:p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Shows the leading country in fugitive methane emissions, such as leaks from oil and gas production and 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D8E7E-25F0-E55E-772F-130CAF8D9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36" y="793510"/>
            <a:ext cx="2347163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15636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3.1% Super-Emitters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9293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quarterly monitoring cycle for the 663 flagged facilities — the single highest-leverage segment in the dataset.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49340" y="14173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39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26580" y="15636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LDAR Across Both Subsectors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6580" y="19293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and Repair is the most frequently recommended strategy (3,999 facilities) and applies to both transport and production sites.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31638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Top-10 Operators Directly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5295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Gazprom, Shell, Equinor, PetroChina, and peers control a concentrated, addressable share of global emissions — pursue corporate-level commitments.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9340" y="30175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13932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26580" y="31638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January 2026 Anomaly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6580" y="35295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emissions spike before it recurs; isolate the responsible facilities using the SQL trend and risk-score queries.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25880" y="47640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Policy on the Top-5 Countries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1297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Russia, Canada, Qatar, Algeria, and Saudi Arabia dominate country-level output — bilateral programs here move the global number fastest.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9340" y="46177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3932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26580" y="47640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Recommendation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6580" y="51297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six sustainability strategies by reduction-per-difficulty and route each facility to its best-fit strategy automatically.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0F2A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Emissions Data to Sustainability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Python → SQL → BI pipeline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21,679 records validated &amp; analyzed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governed sustainability KPIs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4418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0" name="Text 8"/>
          <p:cNvSpPr/>
          <p:nvPr/>
        </p:nvSpPr>
        <p:spPr>
          <a:xfrm>
            <a:off x="3509010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09010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facilities drive outsized risk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countries dominate output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slightly exceeds production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0196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4788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Environmental Value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4788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targets for fast wins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per facility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ongoing monitoring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35974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00566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00566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risk prediction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facility monitoring feeds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of the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5257800"/>
            <a:ext cx="1371600" cy="3657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3264</Words>
  <Application>Microsoft Office PowerPoint</Application>
  <PresentationFormat>Widescreen</PresentationFormat>
  <Paragraphs>438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نوران محمد ابراهيم  نافع</cp:lastModifiedBy>
  <cp:revision>3</cp:revision>
  <dcterms:created xsi:type="dcterms:W3CDTF">2026-07-25T02:03:10Z</dcterms:created>
  <dcterms:modified xsi:type="dcterms:W3CDTF">2026-07-25T13:55:10Z</dcterms:modified>
</cp:coreProperties>
</file>